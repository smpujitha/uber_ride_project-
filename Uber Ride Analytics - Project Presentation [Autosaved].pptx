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F33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A1F33"/>
                </a:solidFill>
                <a:latin typeface="Calibri"/>
              </a:rPr>
              <a:t>R² Score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00D2A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F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KNN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0.90600000000000003</c:v>
                </c:pt>
                <c:pt idx="1">
                  <c:v>0.56399999999999995</c:v>
                </c:pt>
                <c:pt idx="2">
                  <c:v>0.78800000000000003</c:v>
                </c:pt>
                <c:pt idx="3">
                  <c:v>0.66600000000000004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3B-4BD0-A36E-48A1986452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6F7F9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F33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A1F33"/>
                </a:solidFill>
                <a:latin typeface="Calibri"/>
              </a:rPr>
              <a:t>R² Score on 50 Unseen Rides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on Unseen Data</c:v>
                </c:pt>
              </c:strCache>
            </c:strRef>
          </c:tx>
          <c:spPr>
            <a:solidFill>
              <a:srgbClr val="00A48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F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KNN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0.67300000000000004</c:v>
                </c:pt>
                <c:pt idx="1">
                  <c:v>0.84299999999999997</c:v>
                </c:pt>
                <c:pt idx="2">
                  <c:v>0.82499999999999996</c:v>
                </c:pt>
                <c:pt idx="3">
                  <c:v>0.40400000000000003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E9-471B-B2EC-6F3E05D093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6F7F9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0140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82296" cy="82296"/>
          </a:xfrm>
          <a:prstGeom prst="ellipse">
            <a:avLst/>
          </a:prstGeom>
          <a:solidFill>
            <a:srgbClr val="00D2A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103120" y="2377440"/>
            <a:ext cx="82296" cy="82296"/>
          </a:xfrm>
          <a:prstGeom prst="ellipse">
            <a:avLst/>
          </a:prstGeom>
          <a:solidFill>
            <a:srgbClr val="00D2A8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4389120"/>
            <a:ext cx="82296" cy="82296"/>
          </a:xfrm>
          <a:prstGeom prst="ellipse">
            <a:avLst/>
          </a:prstGeom>
          <a:solidFill>
            <a:srgbClr val="00D2A8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108960" y="5394960"/>
            <a:ext cx="82296" cy="82296"/>
          </a:xfrm>
          <a:prstGeom prst="ellipse">
            <a:avLst/>
          </a:prstGeom>
          <a:solidFill>
            <a:srgbClr val="00D2A8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943600"/>
            <a:ext cx="82296" cy="82296"/>
          </a:xfrm>
          <a:prstGeom prst="ellipse">
            <a:avLst/>
          </a:prstGeom>
          <a:solidFill>
            <a:srgbClr val="00D2A8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914400"/>
            <a:ext cx="82296" cy="82296"/>
          </a:xfrm>
          <a:prstGeom prst="ellipse">
            <a:avLst/>
          </a:prstGeom>
          <a:solidFill>
            <a:srgbClr val="00D2A8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0" y="2194560"/>
            <a:ext cx="82296" cy="82296"/>
          </a:xfrm>
          <a:prstGeom prst="ellipse">
            <a:avLst/>
          </a:prstGeom>
          <a:solidFill>
            <a:srgbClr val="00D2A8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0" y="4023360"/>
            <a:ext cx="82296" cy="82296"/>
          </a:xfrm>
          <a:prstGeom prst="ellipse">
            <a:avLst/>
          </a:prstGeom>
          <a:solidFill>
            <a:srgbClr val="00D2A8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120640"/>
            <a:ext cx="82296" cy="82296"/>
          </a:xfrm>
          <a:prstGeom prst="ellipse">
            <a:avLst/>
          </a:prstGeom>
          <a:solidFill>
            <a:srgbClr val="00D2A8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126480"/>
            <a:ext cx="82296" cy="82296"/>
          </a:xfrm>
          <a:prstGeom prst="ellipse">
            <a:avLst/>
          </a:prstGeom>
          <a:solidFill>
            <a:srgbClr val="00D2A8">
              <a:alpha val="4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D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82880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Uber Ride Analytics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22960" y="297180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Analysis, Feature Engineering &amp; Fare Prediction Modeling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D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1,156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296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RECORDS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D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38328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COMPARED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D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90.6%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94360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 SCORE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Jupyter Notebook Analysis  •  Python • Pandas • Scikit-learn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Ride Logs to a Fare Prediction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takes a raw Uber ride-history export and walks the full data-science pipeline: cleaning the data, engineering new features, exploring ride patterns visually, building a fare-estimation formula, and training multiple regression models to predict ride fares.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55080" y="3246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D2A8"/>
          </a:solidFill>
          <a:ln/>
        </p:spPr>
      </p:sp>
      <p:sp>
        <p:nvSpPr>
          <p:cNvPr id="6" name="Text 4"/>
          <p:cNvSpPr/>
          <p:nvPr/>
        </p:nvSpPr>
        <p:spPr>
          <a:xfrm>
            <a:off x="63550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49440" y="32004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49440" y="35021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duplicates, impute missing PURPOSE values, fix date/time types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D2A8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49440" y="3977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427939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flag, month, day-part (Morning/Afternoon/Evening/Night), ride duration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5080" y="4800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D2A8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4754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49440" y="505663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patterns across time, location, category &amp; purpose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55080" y="5577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D2A8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5532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49440" y="583387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4 regression models to estimate ride fares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1217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9319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how distance, timing and trip type drive Uber ride fares — and build a model accurate enough to estimate the fare of a brand-new, unseen ride.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8680" y="5715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UberDataset.csv  •  1,156 rides  •  Jan–Dec 2016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1,156 Uber Rides Across a Full Year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export (UberDataset.csv) logs every ride with a start/end timestamp, category, origin, destination, distance and stated purpose.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450592"/>
            <a:ext cx="82296" cy="82296"/>
          </a:xfrm>
          <a:prstGeom prst="ellipse">
            <a:avLst/>
          </a:prstGeom>
          <a:solidFill>
            <a:srgbClr val="00D2A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2257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 / END_DATE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926080" y="23225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the ride began / ended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07792"/>
            <a:ext cx="82296" cy="82296"/>
          </a:xfrm>
          <a:prstGeom prst="ellipse">
            <a:avLst/>
          </a:prstGeom>
          <a:solidFill>
            <a:srgbClr val="00D2A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7977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26080" y="27797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or Personal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64992"/>
            <a:ext cx="82296" cy="82296"/>
          </a:xfrm>
          <a:prstGeom prst="ellipse">
            <a:avLst/>
          </a:prstGeom>
          <a:solidFill>
            <a:srgbClr val="00D2A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3697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STOP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6080" y="32369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&amp; destination city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822192"/>
            <a:ext cx="82296" cy="82296"/>
          </a:xfrm>
          <a:prstGeom prst="ellipse">
            <a:avLst/>
          </a:prstGeom>
          <a:solidFill>
            <a:srgbClr val="00D2A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9417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926080" y="36941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travelled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279392"/>
            <a:ext cx="82296" cy="82296"/>
          </a:xfrm>
          <a:prstGeom prst="ellipse">
            <a:avLst/>
          </a:prstGeom>
          <a:solidFill>
            <a:srgbClr val="00D2A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5137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926080" y="41513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reason for the ride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1554480"/>
            <a:ext cx="251460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1A1F33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17830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1,156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58368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RIDE RECORDS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35440" y="1554480"/>
            <a:ext cx="251460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1A1F33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235440" y="17830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932688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3246120"/>
            <a:ext cx="251460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1A1F33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92240" y="34747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177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583680" y="4206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START CITIES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235440" y="3246120"/>
            <a:ext cx="251460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1A1F33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235440" y="34747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9326880" y="4206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TAGGED ‘BUSINESS’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Preparing the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7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the full dataset for duplicated rows and dropped them before any analysis began.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72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87452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Handled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had the most gaps — missing entries were imputed as “Not mentioned” rather than dropped, preserving every ride record. A stray totals row at the end of the file was also removed.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7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20624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Fixed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80060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 and END_DATE were stored as text; converted to proper datetime objects so they could power time-based features.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7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420624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Inconsistencies Fixed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80060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city name encoding (“Kar?chi”) corrected to “Karachi” in both START and STOP fields.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New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fields were derived from the raw timestamps and locations to unlock deeper analysis and give the ML models richer signal.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12172B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3591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2A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ROUND_TRIP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whether START and STOP locations match (yes/no)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12172B"/>
          </a:solidFill>
          <a:ln/>
        </p:spPr>
      </p:sp>
      <p:sp>
        <p:nvSpPr>
          <p:cNvPr id="10" name="Shape 8"/>
          <p:cNvSpPr/>
          <p:nvPr/>
        </p:nvSpPr>
        <p:spPr>
          <a:xfrm>
            <a:off x="4599432" y="23591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2A8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/ TIME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from START_DATE for daily &amp; hourly analysis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210312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121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8394192" y="23591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2A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DAYTIME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binned into Morning, Afternoon, Evening, Night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121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" y="42336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2A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754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month mapped to Jan–Dec labels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43400" y="397764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121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4599432" y="42336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2A8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4754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WEEKDAY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17720" y="5120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name extracted for weekly ride patterns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38160" y="397764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121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8394192" y="42336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2A8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4754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12480" y="5120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duration = END_DATE − START_DATE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Far Do Rides Typically Go?</a:t>
            </a:r>
            <a:endParaRPr lang="en-US" sz="3200" dirty="0"/>
          </a:p>
        </p:txBody>
      </p:sp>
      <p:pic>
        <p:nvPicPr>
          <p:cNvPr id="4" name="Image 0" descr="charts/cell_2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52160" y="1417320"/>
            <a:ext cx="5760720" cy="3703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1325880"/>
            <a:ext cx="5943600" cy="3886200"/>
          </a:xfrm>
          <a:prstGeom prst="roundRect">
            <a:avLst>
              <a:gd name="adj" fmla="val 1412"/>
            </a:avLst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901952"/>
            <a:ext cx="91440" cy="91440"/>
          </a:xfrm>
          <a:prstGeom prst="ellipse">
            <a:avLst/>
          </a:prstGeom>
          <a:solidFill>
            <a:srgbClr val="00D2A8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719072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rides are short: distance is heavily right-skewed with a long tail of a few very long trips.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816352"/>
            <a:ext cx="91440" cy="91440"/>
          </a:xfrm>
          <a:prstGeom prst="ellipse">
            <a:avLst/>
          </a:prstGeom>
          <a:solidFill>
            <a:srgbClr val="00D2A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633472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median distance sits well below the mean, confirming that a handful of long-haul rides pull the average up.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730752"/>
            <a:ext cx="91440" cy="91440"/>
          </a:xfrm>
          <a:prstGeom prst="ellipse">
            <a:avLst/>
          </a:prstGeom>
          <a:solidFill>
            <a:srgbClr val="00D2A8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547872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skew is a key reason tree-based models (which handle non-linear splits well) end up outperforming a simple linear fit.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City Dominates the Ride Log</a:t>
            </a:r>
            <a:endParaRPr lang="en-US" sz="3200" dirty="0"/>
          </a:p>
        </p:txBody>
      </p:sp>
      <p:pic>
        <p:nvPicPr>
          <p:cNvPr id="4" name="Image 0" descr="charts/cell_6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557784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5577840" cy="3931920"/>
          </a:xfrm>
          <a:prstGeom prst="roundRect">
            <a:avLst>
              <a:gd name="adj" fmla="val 1395"/>
            </a:avLst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92240" y="150876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12172B"/>
          </a:solidFill>
          <a:ln/>
        </p:spPr>
      </p:sp>
      <p:sp>
        <p:nvSpPr>
          <p:cNvPr id="7" name="Text 4"/>
          <p:cNvSpPr/>
          <p:nvPr/>
        </p:nvSpPr>
        <p:spPr>
          <a:xfrm>
            <a:off x="681228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CARY, NC LEADS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12280" y="21031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812280" y="28803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started in Cary — the single busiest origin city, out of 177 unique starting points.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12280" y="379476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activity is heavily concentrated: a small cluster of cities (Cary, Morrisville, Whitebridge, Islamabad) account for a disproportionate share of both pickups and drop-offs, while the long tail of 170+ other cities each contribute only a handful of rides.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These Rides For?</a:t>
            </a:r>
            <a:endParaRPr lang="en-US" sz="3200" dirty="0"/>
          </a:p>
        </p:txBody>
      </p:sp>
      <p:pic>
        <p:nvPicPr>
          <p:cNvPr id="4" name="Image 0" descr="charts/cell_3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63040"/>
            <a:ext cx="1106424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11064240" cy="3108960"/>
          </a:xfrm>
          <a:prstGeom prst="roundRect">
            <a:avLst>
              <a:gd name="adj" fmla="val 1765"/>
            </a:avLst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800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trips overwhelmingly dominate the CATEGORY field, and among stated purposes, “Meeting” and “Meal/Entertain” are the most common — consistent with a rider using Uber mainly for work-related travel.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 Purpose Shifts Across the Day</a:t>
            </a:r>
            <a:endParaRPr lang="en-US" sz="3200" dirty="0"/>
          </a:p>
        </p:txBody>
      </p:sp>
      <p:pic>
        <p:nvPicPr>
          <p:cNvPr id="4" name="Image 0" descr="charts/cell_3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603504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6035040" cy="3931920"/>
          </a:xfrm>
          <a:prstGeom prst="roundRect">
            <a:avLst>
              <a:gd name="adj" fmla="val 1395"/>
            </a:avLst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0" y="1600200"/>
            <a:ext cx="47548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0" y="1600200"/>
            <a:ext cx="64008" cy="868680"/>
          </a:xfrm>
          <a:prstGeom prst="rect">
            <a:avLst/>
          </a:prstGeom>
          <a:solidFill>
            <a:srgbClr val="00D2A8"/>
          </a:solidFill>
          <a:ln/>
        </p:spPr>
      </p:sp>
      <p:sp>
        <p:nvSpPr>
          <p:cNvPr id="8" name="Text 5"/>
          <p:cNvSpPr/>
          <p:nvPr/>
        </p:nvSpPr>
        <p:spPr>
          <a:xfrm>
            <a:off x="7086600" y="1691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86600" y="2011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Errand &amp; supply runs dominate early hours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0" y="2587752"/>
            <a:ext cx="47548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0" y="2587752"/>
            <a:ext cx="64008" cy="868680"/>
          </a:xfrm>
          <a:prstGeom prst="rect">
            <a:avLst/>
          </a:prstGeom>
          <a:solidFill>
            <a:srgbClr val="00D2A8"/>
          </a:solidFill>
          <a:ln/>
        </p:spPr>
      </p:sp>
      <p:sp>
        <p:nvSpPr>
          <p:cNvPr id="12" name="Text 9"/>
          <p:cNvSpPr/>
          <p:nvPr/>
        </p:nvSpPr>
        <p:spPr>
          <a:xfrm>
            <a:off x="7086600" y="26791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86600" y="29992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and customer visits peak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0" y="3575304"/>
            <a:ext cx="47548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0" y="3575304"/>
            <a:ext cx="64008" cy="868680"/>
          </a:xfrm>
          <a:prstGeom prst="rect">
            <a:avLst/>
          </a:prstGeom>
          <a:solidFill>
            <a:srgbClr val="00D2A8"/>
          </a:solidFill>
          <a:ln/>
        </p:spPr>
      </p:sp>
      <p:sp>
        <p:nvSpPr>
          <p:cNvPr id="16" name="Text 13"/>
          <p:cNvSpPr/>
          <p:nvPr/>
        </p:nvSpPr>
        <p:spPr>
          <a:xfrm>
            <a:off x="7086600" y="366674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086600" y="398678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Meal/Entertain rides climb sharply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0" y="4562856"/>
            <a:ext cx="47548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0" y="4562856"/>
            <a:ext cx="64008" cy="868680"/>
          </a:xfrm>
          <a:prstGeom prst="rect">
            <a:avLst/>
          </a:prstGeom>
          <a:solidFill>
            <a:srgbClr val="00D2A8"/>
          </a:solidFill>
          <a:ln/>
        </p:spPr>
      </p:sp>
      <p:sp>
        <p:nvSpPr>
          <p:cNvPr id="20" name="Text 17"/>
          <p:cNvSpPr/>
          <p:nvPr/>
        </p:nvSpPr>
        <p:spPr>
          <a:xfrm>
            <a:off x="7086600" y="465429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086600" y="497433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&amp; temporary-site trips more common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&amp; Weekly Ride Rhythms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BY MONTH</a:t>
            </a:r>
            <a:endParaRPr lang="en-US" sz="1100" dirty="0"/>
          </a:p>
        </p:txBody>
      </p:sp>
      <p:pic>
        <p:nvPicPr>
          <p:cNvPr id="5" name="Image 0" descr="charts/cell_6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737360"/>
            <a:ext cx="539496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5394960" cy="3566160"/>
          </a:xfrm>
          <a:prstGeom prst="roundRect">
            <a:avLst>
              <a:gd name="adj" fmla="val 1538"/>
            </a:avLst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BY WEEKDAY</a:t>
            </a:r>
            <a:endParaRPr lang="en-US" sz="1100" dirty="0"/>
          </a:p>
        </p:txBody>
      </p:sp>
      <p:pic>
        <p:nvPicPr>
          <p:cNvPr id="8" name="Image 1" descr="charts/cell_6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1737360"/>
            <a:ext cx="5394960" cy="35661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17920" y="1737360"/>
            <a:ext cx="5394960" cy="3566160"/>
          </a:xfrm>
          <a:prstGeom prst="roundRect">
            <a:avLst>
              <a:gd name="adj" fmla="val 1538"/>
            </a:avLst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 Structure &amp; Feature Relationships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SHARE</a:t>
            </a:r>
            <a:endParaRPr lang="en-US" sz="1100" dirty="0"/>
          </a:p>
        </p:txBody>
      </p:sp>
      <p:pic>
        <p:nvPicPr>
          <p:cNvPr id="5" name="Image 0" descr="charts/cell_6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737360"/>
            <a:ext cx="429768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1417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100" dirty="0"/>
          </a:p>
        </p:txBody>
      </p:sp>
      <p:pic>
        <p:nvPicPr>
          <p:cNvPr id="7" name="Image 1" descr="charts/cell_7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691640"/>
            <a:ext cx="5212080" cy="3931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3949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 majority of trips are one-way. MILES correlates most strongly with the engineered Estimated_Fare, validating distance as the primary fare driver used in modeling.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Ground-Truth Fare Formula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raw data has no fare column, a rule-based Estimated_Fare was engineered from distance, time-of-day and trip type — giving the ML models a real target to learn.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C2340"/>
          </a:solidFill>
          <a:ln w="12700">
            <a:solidFill>
              <a:srgbClr val="32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D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Estimated_Fare  =  (Base Fare + Miles × Rate per Mile) × Time Multiplier  × 2 if Round Trip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fare: $2.00        Rate per mile: $5.00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C2340"/>
          </a:solidFill>
          <a:ln w="12700">
            <a:solidFill>
              <a:srgbClr val="32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77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1.00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337560" y="37947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C2340"/>
          </a:solidFill>
          <a:ln w="12700">
            <a:solidFill>
              <a:srgbClr val="32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3977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42519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2.00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126480" y="37947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C2340"/>
          </a:solidFill>
          <a:ln w="12700">
            <a:solidFill>
              <a:srgbClr val="32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977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42519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2.50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915400" y="37947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C2340"/>
          </a:solidFill>
          <a:ln w="12700">
            <a:solidFill>
              <a:srgbClr val="32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15400" y="3977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15400" y="42519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1.00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48640" y="52578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rides carry the highest multiplier (peak demand pricing), while round trips simply double the one-way estimate. This engineered target becomes the label the regression models are trained to predict.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the Prediction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276856"/>
            <a:ext cx="82296" cy="82296"/>
          </a:xfrm>
          <a:prstGeom prst="ellipse">
            <a:avLst/>
          </a:prstGeom>
          <a:solidFill>
            <a:srgbClr val="00D2A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1396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— ride distance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2734056"/>
            <a:ext cx="82296" cy="82296"/>
          </a:xfrm>
          <a:prstGeom prst="ellipse">
            <a:avLst/>
          </a:prstGeom>
          <a:solidFill>
            <a:srgbClr val="00D2A8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5968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 — encoded 1–4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3191256"/>
            <a:ext cx="82296" cy="82296"/>
          </a:xfrm>
          <a:prstGeom prst="ellipse">
            <a:avLst/>
          </a:prstGeom>
          <a:solidFill>
            <a:srgbClr val="00D2A8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0540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ROUND_TRIP — 0 or 1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3648456"/>
            <a:ext cx="82296" cy="82296"/>
          </a:xfrm>
          <a:prstGeom prst="ellipse">
            <a:avLst/>
          </a:prstGeom>
          <a:solidFill>
            <a:srgbClr val="00D2A8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5112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Fare_Multiplier — time-based rate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4114800"/>
            <a:ext cx="4480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55371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Estimated_Fare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train–test split  •  random_state = 42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1554480"/>
            <a:ext cx="5669280" cy="3794760"/>
          </a:xfrm>
          <a:prstGeom prst="roundRect">
            <a:avLst>
              <a:gd name="adj" fmla="val 1928"/>
            </a:avLst>
          </a:prstGeom>
          <a:solidFill>
            <a:srgbClr val="12172B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783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D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 COMPARED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194560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1C234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2677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92240" y="2542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linear fit between features and fare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3017520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1C2340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0906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92240" y="33649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non-linear splits in distance &amp; timing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3840480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1C2340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39136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92240" y="41879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 for robustness &amp; accuracy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4663440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1C2340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7365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92240" y="5010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from the 5 most similar past rides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on the Test Set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53949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554480"/>
          <a:ext cx="5349240" cy="21031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158.15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263640" y="3886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2172B"/>
          </a:solidFill>
          <a:ln/>
        </p:spPr>
      </p:sp>
      <p:sp>
        <p:nvSpPr>
          <p:cNvPr id="7" name="Text 3"/>
          <p:cNvSpPr/>
          <p:nvPr/>
        </p:nvSpPr>
        <p:spPr>
          <a:xfrm>
            <a:off x="6537960" y="4069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D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ON HELD-OUT TEST DATA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537960" y="43434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 — R² 0.906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537960" y="47548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Estimated_Fare was engineered as a linear formula of these exact features, a linear model fits it almost perfectly on the test split.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Stress-Testing on Brand-New Rides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train/test split, each model was scored on 50 freshly simulated rides it had never encountered — a tougher check for true generalization.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11680"/>
          <a:ext cx="64008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2011680"/>
            <a:ext cx="4389120" cy="3749040"/>
          </a:xfrm>
          <a:prstGeom prst="roundRect">
            <a:avLst>
              <a:gd name="adj" fmla="val 1951"/>
            </a:avLst>
          </a:prstGeom>
          <a:solidFill>
            <a:srgbClr val="12172B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0" y="2240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D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0" y="25603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Rankings flip on unseen data.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498080" y="324612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(0.84) and Random Forest (0.83) generalize best to new rides, while Linear Regression drops to 0.67 and KNN struggles most (0.40) — a reminder that a strong test-split score doesn’t always predict real-world robustness.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09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D2A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6459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drives fare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0" y="164592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is the strongest predictor — correlation analysis and every model confirm it as the dominant fare driver.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06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D2A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54203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travel dominates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2542032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93% of rides are tagged Business, with Meetings and Meal/Entertain as the leading purposes.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46704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021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D2A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02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43814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matters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0" y="3438144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rides carry the highest fare multiplier, reflecting peak-time demand pricing.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242816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398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D2A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98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334256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 generalize better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0" y="4334256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Decision Tree hold up best on unseen data, despite Linear Regression ‘winning’ the test split.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138928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29437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D2A8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294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523036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activity is concentrated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0" y="5230368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handful of cities (led by Cary, NC) account for a large share of all pickups and drop-offs.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1314</Words>
  <Application>Microsoft Office PowerPoint</Application>
  <PresentationFormat>Widescreen</PresentationFormat>
  <Paragraphs>226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INDIRA DEVI SENTHIL KUMAR</cp:lastModifiedBy>
  <cp:revision>2</cp:revision>
  <dcterms:created xsi:type="dcterms:W3CDTF">2026-07-27T11:00:06Z</dcterms:created>
  <dcterms:modified xsi:type="dcterms:W3CDTF">2026-07-31T12:00:20Z</dcterms:modified>
</cp:coreProperties>
</file>